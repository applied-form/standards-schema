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25a0464f44cf2" /><Relationship Type="http://schemas.openxmlformats.org/officeDocument/2006/relationships/extended-properties" Target="/docProps/app.xml" Id="R12b4758685ac4999" /><Relationship Type="http://schemas.openxmlformats.org/officeDocument/2006/relationships/officeDocument" Target="/ppt/presentation.xml" Id="R988ad9e66f7b46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54fe0d8ce34167"/>
  </p:sldMasterIdLst>
  <p:notesMasterIdLst>
    <p:notesMasterId xmlns:r="http://schemas.openxmlformats.org/officeDocument/2006/relationships" r:id="R6a1f5d283c094a30"/>
  </p:notesMasterIdLst>
  <p:sldIdLst>
    <p:sldId xmlns:r="http://schemas.openxmlformats.org/officeDocument/2006/relationships" id="256" r:id="Ra28b9ab619bc4c50"/>
    <p:sldId xmlns:r="http://schemas.openxmlformats.org/officeDocument/2006/relationships" id="257" r:id="R9057b165fbe845c1"/>
    <p:sldId xmlns:r="http://schemas.openxmlformats.org/officeDocument/2006/relationships" id="258" r:id="R9aa9dff20e6449a3"/>
    <p:sldId xmlns:r="http://schemas.openxmlformats.org/officeDocument/2006/relationships" id="259" r:id="R457400e0acfd4ae3"/>
    <p:sldId xmlns:r="http://schemas.openxmlformats.org/officeDocument/2006/relationships" id="260" r:id="R1a21f47806bf4bce"/>
    <p:sldId xmlns:r="http://schemas.openxmlformats.org/officeDocument/2006/relationships" id="261" r:id="R23af180877e746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1cb47594064736" /><Relationship Type="http://schemas.openxmlformats.org/officeDocument/2006/relationships/slideMaster" Target="/ppt/slideMasters/slideMaster1.xml" Id="R1154fe0d8ce34167" /><Relationship Type="http://schemas.openxmlformats.org/officeDocument/2006/relationships/notesMaster" Target="/ppt/notesMasters/notesMaster1.xml" Id="R6a1f5d283c094a30" /><Relationship Type="http://schemas.openxmlformats.org/officeDocument/2006/relationships/presProps" Target="/ppt/presProps.xml" Id="R8904b550eacd4404" /><Relationship Type="http://schemas.openxmlformats.org/officeDocument/2006/relationships/viewProps" Target="/ppt/viewProps.xml" Id="R8d586b1cd10d4284" /><Relationship Type="http://schemas.openxmlformats.org/officeDocument/2006/relationships/tableStyles" Target="/ppt/tableStyles.xml" Id="R4d7906dd13b6438b" /><Relationship Type="http://schemas.openxmlformats.org/officeDocument/2006/relationships/slide" Target="/ppt/slides/slide1.xml" Id="Ra28b9ab619bc4c50" /><Relationship Type="http://schemas.openxmlformats.org/officeDocument/2006/relationships/slide" Target="/ppt/slides/slide2.xml" Id="R9057b165fbe845c1" /><Relationship Type="http://schemas.openxmlformats.org/officeDocument/2006/relationships/slide" Target="/ppt/slides/slide3.xml" Id="R9aa9dff20e6449a3" /><Relationship Type="http://schemas.openxmlformats.org/officeDocument/2006/relationships/slide" Target="/ppt/slides/slide4.xml" Id="R457400e0acfd4ae3" /><Relationship Type="http://schemas.openxmlformats.org/officeDocument/2006/relationships/slide" Target="/ppt/slides/slide5.xml" Id="R1a21f47806bf4bce" /><Relationship Type="http://schemas.openxmlformats.org/officeDocument/2006/relationships/slide" Target="/ppt/slides/slide6.xml" Id="R23af180877e746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ec090b29e248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69d40a6ea8480b" /><Relationship Type="http://schemas.openxmlformats.org/officeDocument/2006/relationships/notesMaster" Target="/ppt/notesMasters/notesMaster1.xml" Id="Reb55a935562a43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6f784934e94cd2" /><Relationship Type="http://schemas.openxmlformats.org/officeDocument/2006/relationships/notesMaster" Target="/ppt/notesMasters/notesMaster1.xml" Id="R947822ea0c994a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e4d667f21d4a1d" /><Relationship Type="http://schemas.openxmlformats.org/officeDocument/2006/relationships/notesMaster" Target="/ppt/notesMasters/notesMaster1.xml" Id="Rff28bcae45eb41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3e7718c72f469b" /><Relationship Type="http://schemas.openxmlformats.org/officeDocument/2006/relationships/notesMaster" Target="/ppt/notesMasters/notesMaster1.xml" Id="R5db428a7955e45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dc984b9d334793" /><Relationship Type="http://schemas.openxmlformats.org/officeDocument/2006/relationships/notesMaster" Target="/ppt/notesMasters/notesMaster1.xml" Id="R0e662cc9c38644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b0f2015ffd44fa" /><Relationship Type="http://schemas.openxmlformats.org/officeDocument/2006/relationships/notesMaster" Target="/ppt/notesMasters/notesMaster1.xml" Id="R2da120a5662243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Band statement. Use when a section must be declared, not introduced. One per section maximum.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Datum. Use when one figure reframes the section. Scale in mono reads as a measurement, not a boast.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Register. Use when three or four figures state the position together.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Plate. Use when a figure needs a number and a caption so it can be cited later.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Matrix. Use when two variables must be crossed. Numerals right, words left, always.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Schedule. Use when scope, cost or duration must be stated exactly. Precision is the persuasion; ranges undermine 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876103d4149b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ec07e617834ea7" /><Relationship Type="http://schemas.openxmlformats.org/officeDocument/2006/relationships/slideLayout" Target="/ppt/slideLayouts/slideLayout1.xml" Id="R0acb84bc263a40f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cb84bc263a40f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db34c83ed4011" /><Relationship Type="http://schemas.openxmlformats.org/officeDocument/2006/relationships/notesSlide" Target="/ppt/notesSlides/notesSlide1.xml" Id="Rd786d973bc494b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0094f4764bd2" /><Relationship Type="http://schemas.openxmlformats.org/officeDocument/2006/relationships/notesSlide" Target="/ppt/notesSlides/notesSlide2.xml" Id="Rcc171d82b1a146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60777b34c401e" /><Relationship Type="http://schemas.openxmlformats.org/officeDocument/2006/relationships/notesSlide" Target="/ppt/notesSlides/notesSlide3.xml" Id="R275ce6cc4a1445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9f0d8a3b8424f" /><Relationship Type="http://schemas.openxmlformats.org/officeDocument/2006/relationships/chart" Target="/ppt/slides/charts/chart1.xml" Id="Rcb3586cfcf1c4694" /><Relationship Type="http://schemas.openxmlformats.org/officeDocument/2006/relationships/notesSlide" Target="/ppt/notesSlides/notesSlide4.xml" Id="R4f41d30bac544c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1b403e34b4f5d" /><Relationship Type="http://schemas.openxmlformats.org/officeDocument/2006/relationships/notesSlide" Target="/ppt/notesSlides/notesSlide5.xml" Id="R2fa183b881a045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6e30e9f5e4bc3" /><Relationship Type="http://schemas.openxmlformats.org/officeDocument/2006/relationships/notesSlide" Target="/ppt/notesSlides/notesSlide6.xml" Id="Ra8e860c279984a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Drift (ppm)</c:v>
          </c:tx>
          <c:spPr>
            <a:solidFill xmlns:a="http://schemas.openxmlformats.org/drawingml/2006/main">
              <a:srgbClr val="111111"/>
            </a:solidFill>
          </c:spPr>
          <c:cat>
            <c:strRef>
              <c:f>'Chart Data'!$A$2:$A$5</c:f>
              <c:strCache>
                <c:ptCount val="4"/>
                <c:pt idx="0">
                  <c:v>20 °C</c:v>
                </c:pt>
                <c:pt idx="1">
                  <c:v>35 °C</c:v>
                </c:pt>
                <c:pt idx="2">
                  <c:v>50 °C</c:v>
                </c:pt>
                <c:pt idx="3">
                  <c:v>65 °C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12</c:v>
                </c:pt>
                <c:pt idx="1">
                  <c:v>34</c:v>
                </c:pt>
                <c:pt idx="2">
                  <c:v>88</c:v>
                </c:pt>
                <c:pt idx="3">
                  <c:v>310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B6B6B"/>
                  </a:solidFill>
                  <a:latin typeface="DM Mono"/>
                  <a:ea typeface="DM Mono"/>
                  <a:cs typeface="DM Mon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DM Mono"/>
                <a:ea typeface="DM Mono"/>
                <a:cs typeface="DM Mono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8D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DM Mono"/>
                <a:ea typeface="DM Mono"/>
                <a:cs typeface="DM Mono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2CA1A17-65D1-40EB-BB82-3B676EA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DC46F7-00FB-42CA-9E0D-05BCD2D3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0"/>
            <a:ext cx="853135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Public Sans"/>
                <a:ea typeface="Public Sans"/>
                <a:cs typeface="Public Sans"/>
              </a:rPr>
              <a:t>Instrumentation programme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ECE753-5799-472A-A293-78E65E40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spc="140">
                <a:solidFill>
                  <a:srgbClr val="BDBDBD"/>
                </a:solidFill>
                <a:latin typeface="DM Mono"/>
                <a:ea typeface="DM Mono"/>
                <a:cs typeface="DM Mono"/>
              </a:rPr>
              <a:t>Instrument · a Standards pack</a:t>
            </a:r>
            <a:endParaRPr sz="1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2484231-80B1-4D2E-B3F0-BC8D0BE5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9537192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5200"/>
              </a:lnSpc>
              <a:buNone/>
            </a:pPr>
            <a:r>
              <a:rPr sz="4800" b="1">
                <a:solidFill>
                  <a:srgbClr val="111111"/>
                </a:solidFill>
                <a:latin typeface="Public Sans"/>
                <a:ea typeface="Public Sans"/>
                <a:cs typeface="Public Sans"/>
              </a:rPr>
              <a:t>Drift stops being correctable above 50 °C</a:t>
            </a:r>
            <a:endParaRPr sz="4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B4A27A-D2C8-4CF5-96B1-D5E8406D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5486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16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RESULTS · THERMAL DRIFT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95CBEA7-5B3C-498A-B51B-F949F9B0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6766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500">
                <a:solidFill>
                  <a:srgbClr val="333333"/>
                </a:solidFill>
                <a:latin typeface="Public Sans"/>
                <a:ea typeface="Public Sans"/>
                <a:cs typeface="Public Sans"/>
              </a:rPr>
              <a:t>Below 50 °C the error is linear and compensates cleanly. Above it the response becomes hysteretic, and the same correction no longer holds.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BAA3376-74F6-46E9-9BBA-505D9EDD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91072"/>
            <a:ext cx="10908792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9360945-E25E-4CA7-8A73-FA05BF36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08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Illustrative data · thermal chamber, 2026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76281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3F7771-86CB-4575-886E-10DB6497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01EBA2-4058-4FE6-80A1-E796AB7D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0"/>
            <a:ext cx="853135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Public Sans"/>
                <a:ea typeface="Public Sans"/>
                <a:cs typeface="Public Sans"/>
              </a:rPr>
              <a:t>Instrumentation programme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B85D244-A501-4A77-B572-2EC853A3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spc="140">
                <a:solidFill>
                  <a:srgbClr val="BDBDBD"/>
                </a:solidFill>
                <a:latin typeface="DM Mono"/>
                <a:ea typeface="DM Mono"/>
                <a:cs typeface="DM Mono"/>
              </a:rPr>
              <a:t>01 · Datum</a:t>
            </a:r>
            <a:endParaRPr sz="1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AEA3BA-6A01-494E-B935-9148E35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EB5EF29-2D78-450D-BAFC-CCDF3373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5486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16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DRIFT INCREASE, 20 → 65 °C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367EC1B-523B-480E-86DF-ED45EAB9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0"/>
            <a:ext cx="54864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0">
                <a:solidFill>
                  <a:srgbClr val="111111"/>
                </a:solidFill>
                <a:latin typeface="DM Mono"/>
                <a:ea typeface="DM Mono"/>
                <a:cs typeface="DM Mono"/>
              </a:rPr>
              <a:t>26×</a:t>
            </a:r>
            <a:endParaRPr sz="1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8C26EF-C362-4729-9DE3-9ACA4511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77440"/>
            <a:ext cx="475488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500">
                <a:solidFill>
                  <a:srgbClr val="333333"/>
                </a:solidFill>
                <a:latin typeface="Public Sans"/>
                <a:ea typeface="Public Sans"/>
                <a:cs typeface="Public Sans"/>
              </a:rPr>
              <a:t>An order of magnitude across the range tested — and, more importantly, a change in the kind of error rather than only its size.</a:t>
            </a:r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FE27157-590E-4308-B045-020F2CEF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91072"/>
            <a:ext cx="10908792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DFC8C7-1B91-420D-AC09-7F861F86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08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± 1σ across units · n=46 · illustrative data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446604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7EFF75-BAB8-4DF2-852E-49F400FB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2FCE04-3E25-438E-BD7E-FE4130C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0"/>
            <a:ext cx="853135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Public Sans"/>
                <a:ea typeface="Public Sans"/>
                <a:cs typeface="Public Sans"/>
              </a:rPr>
              <a:t>Instrumentation programme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9FED89D-D7E1-406C-86E2-F70E293A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spc="140">
                <a:solidFill>
                  <a:srgbClr val="BDBDBD"/>
                </a:solidFill>
                <a:latin typeface="DM Mono"/>
                <a:ea typeface="DM Mono"/>
                <a:cs typeface="DM Mono"/>
              </a:rPr>
              <a:t>02 · Register</a:t>
            </a:r>
            <a:endParaRPr sz="1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8EB8A4-C97E-4489-BE90-7ED52DF6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5486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16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POSITION, IN THREE FIGURES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46CD6B8-943C-4176-A608-D6566798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6BD4FB0-DC06-46F9-B6A3-D858E4F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3291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16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UNITS TESTED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5A2AEF-0E95-418C-8E1F-9372196F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3291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>
                <a:solidFill>
                  <a:srgbClr val="111111"/>
                </a:solidFill>
                <a:latin typeface="DM Mono"/>
                <a:ea typeface="DM Mono"/>
                <a:cs typeface="DM Mono"/>
              </a:rPr>
              <a:t>46</a:t>
            </a:r>
            <a:endParaRPr sz="6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512EDB-DE30-47FA-B35F-17F37487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3291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16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AMBIENT BANDS</a:t>
            </a:r>
            <a:endParaRPr sz="9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6F47DD-B09D-47C5-9B51-D9E2EDD3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057400"/>
            <a:ext cx="3291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>
                <a:solidFill>
                  <a:srgbClr val="111111"/>
                </a:solidFill>
                <a:latin typeface="DM Mono"/>
                <a:ea typeface="DM Mono"/>
                <a:cs typeface="DM Mono"/>
              </a:rPr>
              <a:t>4</a:t>
            </a:r>
            <a:endParaRPr sz="6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105413-C5F6-4193-9494-E80F0BB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28800"/>
            <a:ext cx="3291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16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DRIFT INCREASE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611DD68-8365-4CBF-84D7-C840F192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057400"/>
            <a:ext cx="3291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>
                <a:solidFill>
                  <a:srgbClr val="C8102E"/>
                </a:solidFill>
                <a:latin typeface="DM Mono"/>
                <a:ea typeface="DM Mono"/>
                <a:cs typeface="DM Mono"/>
              </a:rPr>
              <a:t>26×</a:t>
            </a:r>
            <a:endParaRPr sz="6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BA0F4F-3BC1-4092-A676-88C46044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7498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333333"/>
                </a:solidFill>
                <a:latin typeface="Public Sans"/>
                <a:ea typeface="Public Sans"/>
                <a:cs typeface="Public Sans"/>
              </a:rPr>
              <a:t>The Register archetype: labelled data blocks on a shared baseline, read in one sweep. Signal red marks the value under discussion, never a whole series.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553F79A-B674-45DA-8F89-DCC84558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91072"/>
            <a:ext cx="10908792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30CE004-7DE5-4576-A6F3-19BC5E8A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08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Illustrative data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342632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598E461-78E6-478A-99F3-D2A448CD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05EE9C-AFBD-484A-B87C-29D2BCB3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0"/>
            <a:ext cx="853135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Public Sans"/>
                <a:ea typeface="Public Sans"/>
                <a:cs typeface="Public Sans"/>
              </a:rPr>
              <a:t>Instrumentation programme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DAF4400-AC61-4F89-81F6-BB5D5865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spc="140">
                <a:solidFill>
                  <a:srgbClr val="BDBDBD"/>
                </a:solidFill>
                <a:latin typeface="DM Mono"/>
                <a:ea typeface="DM Mono"/>
                <a:cs typeface="DM Mono"/>
              </a:rPr>
              <a:t>03 · Plate</a:t>
            </a:r>
            <a:endParaRPr sz="1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11A33F-6DDD-4306-90D0-A4B32E75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486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16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FIG. 4.2 · DRIFT BY AMBIENT BAND</a:t>
            </a:r>
            <a:endParaRPr sz="9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FB5B1E0-A97A-43FD-BBD2-4DC7195F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2004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333333"/>
                </a:solidFill>
                <a:latin typeface="Public Sans"/>
                <a:ea typeface="Public Sans"/>
                <a:cs typeface="Public Sans"/>
              </a:rPr>
              <a:t>Series colours are ink and muted only. Use direct labels or patterns for additional series. Selection uses a neutral label and one red rule, never a red data mark.</a:t>
            </a:r>
            <a:endParaRPr sz="14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05E2C6B-6841-4581-9BAE-528622BF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91072"/>
            <a:ext cx="10908792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EFB8EE7-98A3-4A28-96CB-8D9DBC07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08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± 1σ · n=46 · illustrative data · units always stated</a:t>
            </a:r>
            <a:endParaRPr sz="900"/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6949440" cy="39319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3586cfcf1c4694"/>
          </a:graphicData>
        </a:graphic>
      </p:graphicFrame>
    </p:spTree>
    <p:extLst>
      <p:ext uri="{BB962C8B-B14F-4D97-AF65-F5344CB8AC3E}">
        <p14:creationId xmlns:p14="http://schemas.microsoft.com/office/powerpoint/2010/main" val="14999601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CE2F79-B83E-4B77-8CA6-E1622277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355899-2E05-4625-83F7-0049DEAE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0"/>
            <a:ext cx="853135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Public Sans"/>
                <a:ea typeface="Public Sans"/>
                <a:cs typeface="Public Sans"/>
              </a:rPr>
              <a:t>Instrumentation programme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C14944-6A67-46A0-B6CB-AFC178BC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spc="140">
                <a:solidFill>
                  <a:srgbClr val="BDBDBD"/>
                </a:solidFill>
                <a:latin typeface="DM Mono"/>
                <a:ea typeface="DM Mono"/>
                <a:cs typeface="DM Mono"/>
              </a:rPr>
              <a:t>04 · Matrix</a:t>
            </a:r>
            <a:endParaRPr sz="1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346E498-3427-492A-AD27-CABF544E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486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16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TABLE 1 · DRIFT BY AMBIENT BAND</a:t>
            </a:r>
            <a:endParaRPr sz="950"/>
          </a:p>
        </p:txBody>
      </p:sp>
      <p:graphicFrame>
        <p:nvGraphicFramePr>
          <p:cNvPr id="14" name="Table 0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1828800"/>
                <a:gridCol w="3108960"/>
                <a:gridCol w="12801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spc="140">
                          <a:solidFill>
                            <a:srgbClr val="6B6B6B"/>
                          </a:solidFill>
                          <a:latin typeface="DM Mono"/>
                          <a:ea typeface="DM Mono"/>
                          <a:cs typeface="DM Mono"/>
                        </a:rPr>
                        <a:t>AMBIENT</a:t>
                      </a:r>
                      <a:endParaRPr sz="10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00" spc="140">
                          <a:solidFill>
                            <a:srgbClr val="6B6B6B"/>
                          </a:solidFill>
                          <a:latin typeface="DM Mono"/>
                          <a:ea typeface="DM Mono"/>
                          <a:cs typeface="DM Mono"/>
                        </a:rPr>
                        <a:t>DRIFT</a:t>
                      </a:r>
                      <a:endParaRPr sz="10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spc="140">
                          <a:solidFill>
                            <a:srgbClr val="6B6B6B"/>
                          </a:solidFill>
                          <a:latin typeface="DM Mono"/>
                          <a:ea typeface="DM Mono"/>
                          <a:cs typeface="DM Mono"/>
                        </a:rPr>
                        <a:t>RESPONSE</a:t>
                      </a:r>
                      <a:endParaRPr sz="10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00" spc="140">
                          <a:solidFill>
                            <a:srgbClr val="6B6B6B"/>
                          </a:solidFill>
                          <a:latin typeface="DM Mono"/>
                          <a:ea typeface="DM Mono"/>
                          <a:cs typeface="DM Mono"/>
                        </a:rPr>
                        <a:t>N</a:t>
                      </a:r>
                      <a:endParaRPr sz="10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20 °C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12 ppm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Linear</a:t>
                      </a:r>
                      <a:endParaRPr sz="1400">
                        <a:latin typeface="Public Sans"/>
                        <a:ea typeface="Public Sans"/>
                        <a:cs typeface="Public Sans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12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35 °C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34 ppm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Linear</a:t>
                      </a:r>
                      <a:endParaRPr sz="1400">
                        <a:latin typeface="Public Sans"/>
                        <a:ea typeface="Public Sans"/>
                        <a:cs typeface="Public Sans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12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50 °C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88 ppm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Mixed</a:t>
                      </a:r>
                      <a:endParaRPr sz="1400">
                        <a:latin typeface="Public Sans"/>
                        <a:ea typeface="Public Sans"/>
                        <a:cs typeface="Public Sans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12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65 °C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310 ppm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C8102E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Hysteretic</a:t>
                      </a:r>
                      <a:endParaRPr sz="1400">
                        <a:latin typeface="Public Sans"/>
                        <a:ea typeface="Public Sans"/>
                        <a:cs typeface="Public Sans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11111"/>
                          </a:solidFill>
                          <a:latin typeface="DM Mono"/>
                          <a:ea typeface="DM Mono"/>
                          <a:cs typeface="DM Mono"/>
                        </a:rPr>
                        <a:t>10</a:t>
                      </a:r>
                      <a:endParaRPr sz="1400">
                        <a:latin typeface="DM Mono"/>
                        <a:ea typeface="DM Mono"/>
                        <a:cs typeface="DM Mono"/>
                      </a:endParaRPr>
                    </a:p>
                  </a:txBody>
                  <a:tcPr marL="127000" marR="127000" marT="101600" marB="101600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D8D8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6C4B4BE-AB11-48AB-B0D3-D7ED9BC1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91072"/>
            <a:ext cx="10908792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B1BEF8-C112-4B3A-A908-65A2AAA8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08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± 1σ across units · n=46 · illustrative data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669216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5D4B09-5C18-45BD-9DA4-8CB9C7CE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92772D-15F1-4F37-A500-A047B477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0"/>
            <a:ext cx="853135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Public Sans"/>
                <a:ea typeface="Public Sans"/>
                <a:cs typeface="Public Sans"/>
              </a:rPr>
              <a:t>Instrumentation programme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6078454-E8A5-4FC5-B787-721019A5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spc="140">
                <a:solidFill>
                  <a:srgbClr val="BDBDBD"/>
                </a:solidFill>
                <a:latin typeface="DM Mono"/>
                <a:ea typeface="DM Mono"/>
                <a:cs typeface="DM Mono"/>
              </a:rPr>
              <a:t>05 · Schedule</a:t>
            </a:r>
            <a:endParaRPr sz="1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28BDE8-A9AB-4840-8908-87127C4F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486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16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WHAT HAPPENS NEXT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2E990F5-28C3-4318-8536-0DEFCE83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36192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991F09-ADD2-45FA-9050-40323ACD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11111"/>
                </a:solidFill>
                <a:latin typeface="Public Sans"/>
                <a:ea typeface="Public Sans"/>
                <a:cs typeface="Public Sans"/>
              </a:rPr>
              <a:t>Cap operating envelope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12496A-265B-4AA4-9C09-C646787A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830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6B6B6B"/>
                </a:solidFill>
                <a:latin typeface="Public Sans"/>
                <a:ea typeface="Public Sans"/>
                <a:cs typeface="Public Sans"/>
              </a:rPr>
              <a:t>Firmware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2725DC-6A03-4196-AE6D-F9CB22C9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17830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11111"/>
                </a:solidFill>
                <a:latin typeface="DM Mono"/>
                <a:ea typeface="DM Mono"/>
                <a:cs typeface="DM Mono"/>
              </a:rPr>
              <a:t>14 Nov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7790E6D-2999-41B8-A089-0C00CB05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95144"/>
            <a:ext cx="10908792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81A7EF-6207-4E56-BE10-52125CB2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9464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11111"/>
                </a:solidFill>
                <a:latin typeface="Public Sans"/>
                <a:ea typeface="Public Sans"/>
                <a:cs typeface="Public Sans"/>
              </a:rPr>
              <a:t>Rebuild correction model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CBBA29-F0BE-4CD5-9977-9F09D96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569464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6B6B6B"/>
                </a:solidFill>
                <a:latin typeface="Public Sans"/>
                <a:ea typeface="Public Sans"/>
                <a:cs typeface="Public Sans"/>
              </a:rPr>
              <a:t>Metrology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08CB3F-A97F-4839-9510-C0C121E8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2569464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11111"/>
                </a:solidFill>
                <a:latin typeface="DM Mono"/>
                <a:ea typeface="DM Mono"/>
                <a:cs typeface="DM Mono"/>
              </a:rPr>
              <a:t>12 Dec</a:t>
            </a:r>
            <a:endParaRPr sz="15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B838329-B235-4200-8833-94359AA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81528"/>
            <a:ext cx="10908792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2784D47-0FDF-414E-A52D-70F5C37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55848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11111"/>
                </a:solidFill>
                <a:latin typeface="Public Sans"/>
                <a:ea typeface="Public Sans"/>
                <a:cs typeface="Public Sans"/>
              </a:rPr>
              <a:t>Re-test at 65 °C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5C9A383-281F-464C-9FD7-60A912E3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55848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6B6B6B"/>
                </a:solidFill>
                <a:latin typeface="Public Sans"/>
                <a:ea typeface="Public Sans"/>
                <a:cs typeface="Public Sans"/>
              </a:rPr>
              <a:t>Metrology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2A38340-10B6-4FF8-9B56-AC18F2F8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3355848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11111"/>
                </a:solidFill>
                <a:latin typeface="DM Mono"/>
                <a:ea typeface="DM Mono"/>
                <a:cs typeface="DM Mono"/>
              </a:rPr>
              <a:t>09 Jan</a:t>
            </a:r>
            <a:endParaRPr sz="15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B7F44E8-CFD0-4A2A-9A9E-5AC01CEF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67912"/>
            <a:ext cx="10908792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5699A55-8C9A-43F7-9338-8D22E505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91072"/>
            <a:ext cx="10908792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831D48A-6AD1-4444-A861-56D83CA3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08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6B6B"/>
                </a:solidFill>
                <a:latin typeface="DM Mono"/>
                <a:ea typeface="DM Mono"/>
                <a:cs typeface="DM Mono"/>
              </a:rPr>
              <a:t>Illustrative data · dates indicative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875901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2026-09-09T10:11:07.9110000Z</dcterms:created>
  <dcterms:modified xsi:type="dcterms:W3CDTF">2026-09-09T10:11:07.9110000Z</dcterms:modified>
</coreProperties>
</file>